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2912c94fec4b03" /><Relationship Type="http://schemas.openxmlformats.org/officeDocument/2006/relationships/extended-properties" Target="/docProps/app.xml" Id="R47cacf043c2a480d" /><Relationship Type="http://schemas.openxmlformats.org/officeDocument/2006/relationships/officeDocument" Target="/ppt/presentation.xml" Id="R46d1f28c78b946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d8fdf2939d4df8"/>
  </p:sldMasterIdLst>
  <p:notesMasterIdLst>
    <p:notesMasterId xmlns:r="http://schemas.openxmlformats.org/officeDocument/2006/relationships" r:id="R97324676ecb24946"/>
  </p:notesMasterIdLst>
  <p:sldIdLst>
    <p:sldId xmlns:r="http://schemas.openxmlformats.org/officeDocument/2006/relationships" id="256" r:id="R557111db683c4b42"/>
    <p:sldId xmlns:r="http://schemas.openxmlformats.org/officeDocument/2006/relationships" id="257" r:id="R30bac6581b7345b1"/>
    <p:sldId xmlns:r="http://schemas.openxmlformats.org/officeDocument/2006/relationships" id="258" r:id="Rdd14947e725d42df"/>
    <p:sldId xmlns:r="http://schemas.openxmlformats.org/officeDocument/2006/relationships" id="259" r:id="R17288abb800d40a3"/>
    <p:sldId xmlns:r="http://schemas.openxmlformats.org/officeDocument/2006/relationships" id="260" r:id="R15d4bf8ec1ee4b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6a4b2e96c24bca" /><Relationship Type="http://schemas.openxmlformats.org/officeDocument/2006/relationships/slideMaster" Target="/ppt/slideMasters/slideMaster1.xml" Id="Rfcd8fdf2939d4df8" /><Relationship Type="http://schemas.openxmlformats.org/officeDocument/2006/relationships/notesMaster" Target="/ppt/notesMasters/notesMaster1.xml" Id="R97324676ecb24946" /><Relationship Type="http://schemas.openxmlformats.org/officeDocument/2006/relationships/presProps" Target="/ppt/presProps.xml" Id="R7f00984a35f04606" /><Relationship Type="http://schemas.openxmlformats.org/officeDocument/2006/relationships/tableStyles" Target="/ppt/tableStyles.xml" Id="R64d60bc1f8e6458c" /><Relationship Type="http://schemas.openxmlformats.org/officeDocument/2006/relationships/slide" Target="/ppt/slides/slide1.xml" Id="R557111db683c4b42" /><Relationship Type="http://schemas.openxmlformats.org/officeDocument/2006/relationships/slide" Target="/ppt/slides/slide2.xml" Id="R30bac6581b7345b1" /><Relationship Type="http://schemas.openxmlformats.org/officeDocument/2006/relationships/slide" Target="/ppt/slides/slide3.xml" Id="Rdd14947e725d42df" /><Relationship Type="http://schemas.openxmlformats.org/officeDocument/2006/relationships/slide" Target="/ppt/slides/slide4.xml" Id="R17288abb800d40a3" /><Relationship Type="http://schemas.openxmlformats.org/officeDocument/2006/relationships/slide" Target="/ppt/slides/slide5.xml" Id="R15d4bf8ec1ee4b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08bc956e3243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9c7d0febb40f2" /><Relationship Type="http://schemas.openxmlformats.org/officeDocument/2006/relationships/notesMaster" Target="/ppt/notesMasters/notesMaster1.xml" Id="R8fb532d582b4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869b038bdf4886" /><Relationship Type="http://schemas.openxmlformats.org/officeDocument/2006/relationships/notesMaster" Target="/ppt/notesMasters/notesMaster1.xml" Id="Rfda358eaa3674e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1beb4857d94321" /><Relationship Type="http://schemas.openxmlformats.org/officeDocument/2006/relationships/notesMaster" Target="/ppt/notesMasters/notesMaster1.xml" Id="Rdd71824f193c4a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efd67ece244ca7" /><Relationship Type="http://schemas.openxmlformats.org/officeDocument/2006/relationships/notesMaster" Target="/ppt/notesMasters/notesMaster1.xml" Id="R7d98788799574b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96e23bf3944383" /><Relationship Type="http://schemas.openxmlformats.org/officeDocument/2006/relationships/notesMaster" Target="/ppt/notesMasters/notesMaster1.xml" Id="R40e2871c72654e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316053d3da49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a59b0f8e324163" /><Relationship Type="http://schemas.openxmlformats.org/officeDocument/2006/relationships/slideLayout" Target="/ppt/slideLayouts/slideLayout1.xml" Id="R9b21a897bebc43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1a897bebc43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e8a9e5ad54d56" /><Relationship Type="http://schemas.openxmlformats.org/officeDocument/2006/relationships/image" Target="/ppt/media/image.png" Id="R0fb3a6b860ca4665" /><Relationship Type="http://schemas.openxmlformats.org/officeDocument/2006/relationships/notesSlide" Target="/ppt/notesSlides/notesSlide1.xml" Id="R727d07f0b4394b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4d6859a5f42dd" /><Relationship Type="http://schemas.openxmlformats.org/officeDocument/2006/relationships/notesSlide" Target="/ppt/notesSlides/notesSlide2.xml" Id="Ra0248021ffe7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69daf3d8e48ae" /><Relationship Type="http://schemas.openxmlformats.org/officeDocument/2006/relationships/notesSlide" Target="/ppt/notesSlides/notesSlide3.xml" Id="Rad25ebcd301d44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073f28af64b23" /><Relationship Type="http://schemas.openxmlformats.org/officeDocument/2006/relationships/notesSlide" Target="/ppt/notesSlides/notesSlide4.xml" Id="R45b859dad46745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3771203534c10" /><Relationship Type="http://schemas.openxmlformats.org/officeDocument/2006/relationships/notesSlide" Target="/ppt/notesSlides/notesSlide5.xml" Id="Rd0946b5f4d9e42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3a6b860ca4665"/>
          <a:srcRect xmlns:a="http://schemas.openxmlformats.org/drawingml/2006/main" l="26081" t="0" r="260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0"/>
            <a:ext cx="58293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CE7E1-5403-426F-A97E-A0355B2A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A6A95-3232-4F65-BD23-3224F816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010"/>
                </a:solidFill>
              </a:defRPr>
            </a:pPr>
            <a:r>
              <a:rPr sz="4350" b="1">
                <a:solidFill>
                  <a:srgbClr val="101010"/>
                </a:solidFill>
              </a:rPr>
              <a:t>Regime 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00F96-EB52-4C59-A0AD-0163E982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시장 위험을 하나의 상태 언어로 번역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B26AF-B4EA-4E59-B4FD-CBBA5F82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A93E2-B1CD-4FBD-AE86-423F709C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5095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</a:rPr>
              <a:t>중급 투자자를 위한 핵심 관점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010"/>
                </a:solidFill>
              </a:defRPr>
            </a:pPr>
            <a:r>
              <a:rPr sz="1650" b="0">
                <a:solidFill>
                  <a:srgbClr val="101010"/>
                </a:solidFill>
              </a:rPr>
              <a:t>개별 차트의 소음보다 중요한 것은 신용, 변동성, 유동성, 글로벌 위험선호가 같은 방향을 말하는지입니다.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7B791-EB3B-4C90-BBFB-21084661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위험측정 중심 설명 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2A6E8-4F50-4790-9D06-8331EF9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Regime Monitor | yfinance-risk-analysis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46DE8-FF2F-4E50-945D-1D980CA1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49650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EF7E94-25B6-467C-90C8-A23D6947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</a:defRPr>
            </a:pPr>
            <a:r>
              <a:rPr sz="2925" b="1">
                <a:solidFill>
                  <a:srgbClr val="101010"/>
                </a:solidFill>
              </a:rPr>
              <a:t>레짐은 네 종류의 위험 신호를 합친다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D5A82-AE0C-417B-8765-13B7003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각 지표를 자기 역사 대비 z-score로 바꿔, 서로 다른 단위의 신호를 같은 눈금에서 비교합니다.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4752E-D9C4-49BE-AFB9-6D6994A9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40CDA-2A00-481E-B9AE-D3F9E633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114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/>
          </a:solidFill>
          <a:ln xmlns:a="http://schemas.openxmlformats.org/drawingml/2006/main" w="9525">
            <a:solidFill>
              <a:srgbClr val="D627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D7A12-0B1A-4CCF-9FE8-E717E790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신용 위험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1A950-F886-4AD1-8C8A-E4987A00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HY OAS 상승, HYG/LQD 하락은 위험자산 선호가 약해지는 신호입니다.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84419-3A34-498B-B9D8-68C0195B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DDBA0-2DAA-43FB-A85F-BACCE992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38350"/>
            <a:ext cx="114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2363C-5F80-4A1C-B724-808B69FF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0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변동성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8E143-7A8E-4D33-9C62-4CA56C35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62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VIX와 VIX term structure는 옵션시장이 가격에 반영한 불안의 강도를 보여줍니다.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652C0-CF3C-4EBC-A8FF-EF2E2758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1E26E-E51C-4866-A2DC-A2AE4164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4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47E57-B130-42F6-91E3-15D968B5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유동성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78A9C-AADA-419C-A60E-22BD8C5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MMF, RRP, M2, 준비금 흐름은 시장에 남아 있는 완충재를 읽는 축입니다.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F47DC-DA27-48C8-8866-BDF1E87F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38600"/>
            <a:ext cx="5524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A3B57-B53D-43BF-A45E-DA47E49C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38600"/>
            <a:ext cx="1143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/>
          </a:solidFill>
          <a:ln xmlns:a="http://schemas.openxmlformats.org/drawingml/2006/main" w="9525">
            <a:solidFill>
              <a:srgbClr val="2CA0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17B79-728E-4908-ABA4-A8909613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3053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글로벌 위험선호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FA15E4-BABE-4B04-9F8C-362EF616D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62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UUP 강세와 EEM 약세는 달러 긴축과 신흥국 회피가 함께 나타나는 조합입니다.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B9F5CF-8758-467B-B992-643CA3D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Regime Monitor | yfinance-risk-analysis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093CE-D42B-4DDB-A443-6C940202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8358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FDE00-4D9A-46D6-9FF5-2EBEB138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</a:defRPr>
            </a:pPr>
            <a:r>
              <a:rPr sz="2925" b="1">
                <a:solidFill>
                  <a:srgbClr val="101010"/>
                </a:solidFill>
              </a:rPr>
              <a:t>점수는 '위험이 쉬운가, 어려운가'를 묻는다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0B07A6-8E55-4CE4-95C9-D0FD87E8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Regime Score가 높을수록 risk-on, 낮을수록 risk-off에 가깝습니다. 5일 평균으로 하루 노이즈를 줄입니다.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DDB06-D705-43ED-9FA5-BEABE04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5191125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AEB3E-8963-4538-8550-9ACAB19B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010"/>
                </a:solidFill>
              </a:defRPr>
            </a:pPr>
            <a:r>
              <a:rPr sz="1950" b="1">
                <a:solidFill>
                  <a:srgbClr val="101010"/>
                </a:solidFill>
              </a:rPr>
              <a:t>점수를 올리는 신호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257D3-DCA3-4EDD-994B-ED8CC89F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/>
          </a:solidFill>
          <a:ln xmlns:a="http://schemas.openxmlformats.org/drawingml/2006/main" w="9525">
            <a:solidFill>
              <a:srgbClr val="2CA02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68F09-A691-4EF0-B98A-18AA2AB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LiquidityScore +1.20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11FD8-FDFD-43FB-BA62-8A174F15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유동성이 좋아질수록 위험자산 환경을 우호적으로 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498F00-482D-44A3-9FD5-D3817B45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/>
          </a:solidFill>
          <a:ln xmlns:a="http://schemas.openxmlformats.org/drawingml/2006/main" w="9525">
            <a:solidFill>
              <a:srgbClr val="2CA0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E0F0C-C5C0-4F49-8671-A1B289F5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HYG/LQD +0.90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121A2-BE61-4AD7-A306-D69CB6B6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39814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하이일드가 우량채보다 강하면 위험선호가 살아 있다고 해석합니다.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0686A-1DA9-4BE0-9532-578B9FAA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56007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61100-F485-4E33-8273-EFCDE312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010"/>
                </a:solidFill>
              </a:defRPr>
            </a:pPr>
            <a:r>
              <a:rPr sz="1950" b="1">
                <a:solidFill>
                  <a:srgbClr val="101010"/>
                </a:solidFill>
              </a:rPr>
              <a:t>점수를 낮추는 신호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DBD0F-E74D-42AD-8945-68DC5EF8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/>
          </a:solidFill>
          <a:ln xmlns:a="http://schemas.openxmlformats.org/drawingml/2006/main" w="9525">
            <a:solidFill>
              <a:srgbClr val="D6272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32B44-A9DF-4E7A-9E80-551FD1A1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9560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HY OAS -1.00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7DBAAE-A616-459B-BFC6-CD171BF9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스프레드 확대는 신용시장이 요구하는 위험보상이 커진다는 뜻입니다.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E3112-D630-4C98-8788-49C126C1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5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/>
          </a:solidFill>
          <a:ln xmlns:a="http://schemas.openxmlformats.org/drawingml/2006/main" w="9525">
            <a:solidFill>
              <a:srgbClr val="D627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5376A9-C664-45A7-8E35-BC430CBD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38600"/>
            <a:ext cx="426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</a:defRPr>
            </a:pPr>
            <a:r>
              <a:rPr sz="1800" b="1">
                <a:solidFill>
                  <a:srgbClr val="101010"/>
                </a:solidFill>
              </a:rPr>
              <a:t>VIX -0.80 / Stress -0.70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F4343-445E-4153-93D3-2D13153C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19600"/>
            <a:ext cx="4267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공포와 종합 스트레스가 커질수록 방어적 레짐으로 이동합니다.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F86A4D-6DD0-4B62-9B19-679364F9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보조 신호: EEM +0.45, UUP -0.35, 금리 스프레드와 VIX term 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08A24-B21B-4ECB-A310-4DD67A62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Regime Monitor | yfinance-risk-analysis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74FA9A-7135-48EA-84E5-8E22755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1724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B57688-7540-4895-9B10-2F3D263C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</a:defRPr>
            </a:pPr>
            <a:r>
              <a:rPr sz="2925" b="1">
                <a:solidFill>
                  <a:srgbClr val="101010"/>
                </a:solidFill>
              </a:rPr>
              <a:t>레짐 라벨은 투자 행동의 온도계다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0E584-62AC-4708-AB62-E2C21FB1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라벨은 예언이 아니라 현재 위험환경의 행동 언어입니다. 같은 점수라도 confidence가 낮으면 판단 강도를 낮춥니다.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88C0B-79D4-4371-95ED-DFA6557D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038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A02C"/>
          </a:solidFill>
          <a:ln xmlns:a="http://schemas.openxmlformats.org/drawingml/2006/main" w="9525">
            <a:solidFill>
              <a:srgbClr val="2CA02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1F659-DC00-4DB3-B554-11C9617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risk_on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58C0A-15F4-429C-AD1C-E79078CA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&gt;= 1.25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64BFD-5D61-4279-B7BF-33D21B5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size 1.00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35AE7-61E0-4491-A840-AD019D35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76500"/>
            <a:ext cx="2038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9525">
            <a:solidFill>
              <a:srgbClr val="1F77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DD75F-6CEA-42C6-9443-3BC649FB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7241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neutral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69D7B-82F9-4D4E-BEC0-560AAF78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0.25~1.25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5F5FA-6278-4349-9646-C4478DCF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390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size 0.70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55A75-58AA-4137-AE39-393B8E20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2038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9525">
            <a:solidFill>
              <a:srgbClr val="FFB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752D9-2DDE-41A5-9B4F-DF90F029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caution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58FA8-4964-439B-869A-0FE01616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-0.75~0.25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BB87A-F51F-45E7-A72E-61CFF18A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90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size 0.35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DCE10-91C8-4AC9-B8CB-FCC2633B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76500"/>
            <a:ext cx="2038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2728"/>
          </a:solidFill>
          <a:ln xmlns:a="http://schemas.openxmlformats.org/drawingml/2006/main" w="9525">
            <a:solidFill>
              <a:srgbClr val="D627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0D7B6-29BA-4BA4-B501-A2ACE8FC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241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risk_off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71BD2-466E-408C-A30E-09F06A448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-1.75~-0.75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E5F35-BE29-47F3-BF5D-70F12AF0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390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size 0.10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8E724-5FA7-4AAF-BF68-72334EF2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20383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0000"/>
          </a:solidFill>
          <a:ln xmlns:a="http://schemas.openxmlformats.org/drawingml/2006/main" w="9525">
            <a:solidFill>
              <a:srgbClr val="8B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827F71-4D2C-4DB3-8F26-1AE09FE7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7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crisis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8976C-8E1A-45F6-AEF9-BE419891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242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&lt; -1.75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E458BC-E815-4F32-B4D5-4AB1DBAD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90900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size 0.00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C769CB-68EE-4D8A-862B-32C9C2A1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13919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BBBE3-A3FC-4216-87A5-9F916517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Confidence는 지표들의 합창 정도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C8CDA-84A6-43A2-BF4E-143D84105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624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신용, 변동성, 스트레스, 달러, EEM이 같은 방향이면 confidence가 높아집니다. 서로 엇갈리면 전환점 또는 시차 구간일 수 있습니다.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4F83C-885B-4494-BC10-0425E2DE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Regime Monitor | yfinance-risk-analysis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7EE16-DAB5-4037-8CD8-16647867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87340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0FC66E-04DC-4078-838B-CF7B80ED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010"/>
                </a:solidFill>
              </a:defRPr>
            </a:pPr>
            <a:r>
              <a:rPr sz="2925" b="1">
                <a:solidFill>
                  <a:srgbClr val="101010"/>
                </a:solidFill>
              </a:rPr>
              <a:t>검증은 예측보다 활용성을 본다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4B021-66D9-4082-974E-1B8DC84E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Historical Regime Accuracy는 저장된 일별 스냅샷과 SPY 이후 21거래일 수익률을 연결합니다.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1CF4D-D6F4-4D9F-BA5D-8CA291D5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076F3-C7DA-4F97-8931-8392B4A2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일별 레짐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7AE35-4C9C-482A-93E5-D4953D4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risk_on / neutral / caution / risk_off / crisis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2F264-114D-4F6D-A6D3-D091F894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860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69A49-C472-42BD-A591-4E4B00F9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28875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EE5E0-9AC3-4CA1-B4B6-9C880B1F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21D forward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63377-7700-44D2-A78B-003652C1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146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SPY 이후 21거래일 수익률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6D1D6-F9F9-4625-A0D7-44D2CC81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860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752C6-291F-4703-B26B-C383EF7E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285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9B2AB-C93E-4227-B338-F51024D8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010"/>
                </a:solidFill>
              </a:defRPr>
            </a:pPr>
            <a:r>
              <a:rPr sz="1875" b="1">
                <a:solidFill>
                  <a:srgbClr val="101010"/>
                </a:solidFill>
              </a:rPr>
              <a:t>Hit / Miss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E82E2-7320-451B-97D6-71991ACB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14675"/>
            <a:ext cx="236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상승 기대 또는 방어 기대가 맞았는지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46CCDF-B4E3-47D7-A66A-DE499875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BD66F-6839-4631-867D-4E9A5541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상승 기대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69E0F-A08C-496F-8311-32BAD35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05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risk_on / neutral / caution 이후 SPY가 오르면 hit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4249E-2749-42A3-8FA0-8BEC48FA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533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9FC4E-61F9-4A58-9AB4-8E02674A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010"/>
                </a:solidFill>
              </a:defRPr>
            </a:pPr>
            <a:r>
              <a:rPr sz="1725" b="1">
                <a:solidFill>
                  <a:srgbClr val="101010"/>
                </a:solidFill>
              </a:rPr>
              <a:t>방어 기대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90AC3-830D-4C6B-A889-DD428B68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risk_off / crisis 이후 SPY가 flat 또는 하락하면 hit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C8B2A-AC56-48EC-8422-886C1CE4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010"/>
                </a:solidFill>
              </a:defRPr>
            </a:pPr>
            <a:r>
              <a:rPr sz="1425" b="0">
                <a:solidFill>
                  <a:srgbClr val="101010"/>
                </a:solidFill>
              </a:rPr>
              <a:t>핵심: 모델의 목적은 완벽한 예측이 아니라, 위험이 커질 때 노출을 줄이는 규칙의 일관성을 점검하는 것입니다.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99929-F714-4B77-82BE-A00D7E02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246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Regime Monitor | yfinance-risk-analysis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4BE3E-EF42-4AB3-877B-65539A4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2103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2026-06-28T23:41:46.6180000Z</dcterms:created>
  <dcterms:modified xsi:type="dcterms:W3CDTF">2026-06-28T23:41:46.6180000Z</dcterms:modified>
</coreProperties>
</file>